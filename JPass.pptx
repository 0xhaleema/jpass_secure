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65" r:id="rId9"/>
    <p:sldId id="266" r:id="rId10"/>
    <p:sldId id="267" r:id="rId11"/>
    <p:sldId id="268" r:id="rId12"/>
    <p:sldId id="269" r:id="rId13"/>
    <p:sldId id="262" r:id="rId14"/>
    <p:sldId id="263" r:id="rId15"/>
    <p:sldId id="264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3814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9128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9374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5475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2707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8302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448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12" Type="http://schemas.microsoft.com/office/2007/relationships/hdphoto" Target="../media/hdphoto5.wdp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11" Type="http://schemas.openxmlformats.org/officeDocument/2006/relationships/image" Target="../media/image15.png"/><Relationship Id="rId5" Type="http://schemas.openxmlformats.org/officeDocument/2006/relationships/image" Target="../media/image12.png"/><Relationship Id="rId10" Type="http://schemas.microsoft.com/office/2007/relationships/hdphoto" Target="../media/hdphoto4.wdp"/><Relationship Id="rId4" Type="http://schemas.microsoft.com/office/2007/relationships/hdphoto" Target="../media/hdphoto1.wdp"/><Relationship Id="rId9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microsoft.com/office/2007/relationships/hdphoto" Target="../media/hdphoto6.wdp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0"/>
            <a:ext cx="2194560" cy="4114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JPass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754880"/>
            <a:ext cx="87782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– AACK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645795"/>
            <a:ext cx="1280160" cy="12801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96340" y="1989049"/>
            <a:ext cx="6294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JPass</a:t>
            </a:r>
            <a:endParaRPr lang="en-US" sz="5800" dirty="0"/>
          </a:p>
        </p:txBody>
      </p:sp>
      <p:sp>
        <p:nvSpPr>
          <p:cNvPr id="8" name="Text 5"/>
          <p:cNvSpPr/>
          <p:nvPr/>
        </p:nvSpPr>
        <p:spPr>
          <a:xfrm>
            <a:off x="1897380" y="2817495"/>
            <a:ext cx="515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Manager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234440" y="3343275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· Simple · Reliable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291840" y="3785235"/>
            <a:ext cx="2560320" cy="411480"/>
          </a:xfrm>
          <a:prstGeom prst="rect">
            <a:avLst/>
          </a:prstGeom>
          <a:solidFill>
            <a:srgbClr val="243B6E"/>
          </a:solidFill>
          <a:ln w="12700">
            <a:solidFill>
              <a:srgbClr val="243B6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91840" y="3785235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Desktop Application</a:t>
            </a:r>
            <a:endParaRPr lang="en-US" sz="120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5BD01629-543B-4342-AA46-1D6CB52C7132}"/>
              </a:ext>
            </a:extLst>
          </p:cNvPr>
          <p:cNvSpPr/>
          <p:nvPr/>
        </p:nvSpPr>
        <p:spPr>
          <a:xfrm>
            <a:off x="7206844" y="3737610"/>
            <a:ext cx="193715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</a:p>
          <a:p>
            <a:pPr marL="0" indent="0">
              <a:buNone/>
            </a:pPr>
            <a:r>
              <a:rPr lang="en-US" sz="1300" i="1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Haleema Abid(245053)</a:t>
            </a:r>
          </a:p>
          <a:p>
            <a:pPr marL="0" indent="0">
              <a:buNone/>
            </a:pPr>
            <a:r>
              <a:rPr lang="en-US" sz="1300" i="1" dirty="0" err="1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Hamna</a:t>
            </a:r>
            <a:r>
              <a:rPr lang="en-US" sz="1300" i="1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Saleem(245047)</a:t>
            </a:r>
          </a:p>
          <a:p>
            <a:pPr marL="0" indent="0">
              <a:buNone/>
            </a:pPr>
            <a:r>
              <a:rPr lang="en-US" sz="1300" i="1" dirty="0" err="1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Samreen</a:t>
            </a:r>
            <a:r>
              <a:rPr lang="en-US" sz="1300" i="1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Shoukat</a:t>
            </a:r>
            <a:r>
              <a:rPr lang="en-US" sz="1300" i="1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(245077)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0"/>
            <a:ext cx="2194560" cy="4114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JPass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754880"/>
            <a:ext cx="87782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– AACK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JPass?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1078992"/>
            <a:ext cx="1280160" cy="54864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344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JPass is a Java-based desktop password manager that stores all your passwords in one secure, encrypted place.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201168" cy="201168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23134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app — works offline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807208"/>
            <a:ext cx="201168" cy="201168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27889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&amp; lightweight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82696"/>
            <a:ext cx="201168" cy="201168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32644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Java + Swing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0" y="548640"/>
            <a:ext cx="3017520" cy="4023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097280"/>
            <a:ext cx="1371600" cy="13716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669280" y="26517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Master Password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669280" y="3108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 all your accounts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0"/>
            <a:ext cx="2194560" cy="4114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JPass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754880"/>
            <a:ext cx="87782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– AACK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Encryption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1078992"/>
            <a:ext cx="1463040" cy="54864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070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password is individually encrypted using: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664208"/>
            <a:ext cx="26974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A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664208"/>
            <a:ext cx="2697480" cy="64008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920240"/>
            <a:ext cx="685800" cy="6858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65760" y="269748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365760" y="3127248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Military-grade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standard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46120" y="1664208"/>
            <a:ext cx="26974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A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46120" y="1664208"/>
            <a:ext cx="2697480" cy="64008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1920240"/>
            <a:ext cx="685800" cy="6858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246120" y="269748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Key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3246120" y="3127248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password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everything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126480" y="1664208"/>
            <a:ext cx="26974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A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126480" y="1664208"/>
            <a:ext cx="2697480" cy="64008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1920240"/>
            <a:ext cx="685800" cy="6858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126480" y="269748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6126480" y="3127248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never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 your device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0"/>
            <a:ext cx="2194560" cy="4114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JPass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754880"/>
            <a:ext cx="87782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– AACK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1078992"/>
            <a:ext cx="914400" cy="54864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234440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234440"/>
            <a:ext cx="64008" cy="150876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73736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15568" y="143560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Master Password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15568" y="182880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just one password to access all your stored credentials securely.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800600" y="1234440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800600" y="1234440"/>
            <a:ext cx="64008" cy="150876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173736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550408" y="143560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Edit &amp; Delete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550408" y="182880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Quickly manage your login details — update or remove entries with ease.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65760" y="2971800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65760" y="2971800"/>
            <a:ext cx="64008" cy="150876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47472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115568" y="317296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Weak Passwords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1115568" y="356616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the risk of reusing or creating weak passwords across accounts.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800600" y="2971800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800600" y="2971800"/>
            <a:ext cx="64008" cy="150876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5192" y="3474720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550408" y="317296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&amp; Secure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5550408" y="356616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entirely on your machine — no cloud, no leaks, no tracking.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0"/>
            <a:ext cx="2194560" cy="4114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JPass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754880"/>
            <a:ext cx="87782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– AACK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JPass?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1078992"/>
            <a:ext cx="822960" cy="54864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207008"/>
            <a:ext cx="393192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070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Problem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207008"/>
            <a:ext cx="3931920" cy="347472"/>
          </a:xfrm>
          <a:prstGeom prst="rect">
            <a:avLst/>
          </a:prstGeom>
          <a:solidFill>
            <a:srgbClr val="243B6E"/>
          </a:solidFill>
          <a:ln w="12700">
            <a:solidFill>
              <a:srgbClr val="243B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2070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JPass Solution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1664208"/>
            <a:ext cx="3931920" cy="56692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66420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passwords to remember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1664208"/>
            <a:ext cx="3931920" cy="566928"/>
          </a:xfrm>
          <a:prstGeom prst="rect">
            <a:avLst/>
          </a:prstGeom>
          <a:solidFill>
            <a:srgbClr val="EAF0FB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166420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master password unlocks all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97680" y="1664208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65760" y="2322576"/>
            <a:ext cx="3931920" cy="566928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32257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using weak/repeated passwords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2322576"/>
            <a:ext cx="3931920" cy="566928"/>
          </a:xfrm>
          <a:prstGeom prst="rect">
            <a:avLst/>
          </a:prstGeom>
          <a:solidFill>
            <a:srgbClr val="EAF0FB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232257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credential stored uniquely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97680" y="2322576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65760" y="2980944"/>
            <a:ext cx="3931920" cy="56692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98094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exposed on cloud services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2980944"/>
            <a:ext cx="3931920" cy="566928"/>
          </a:xfrm>
          <a:prstGeom prst="rect">
            <a:avLst/>
          </a:prstGeom>
          <a:solidFill>
            <a:srgbClr val="EAF0FB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298094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offline — stays on your device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297680" y="2980944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365760" y="3639312"/>
            <a:ext cx="3931920" cy="566928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63931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password management tools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3639312"/>
            <a:ext cx="3931920" cy="566928"/>
          </a:xfrm>
          <a:prstGeom prst="rect">
            <a:avLst/>
          </a:prstGeom>
          <a:solidFill>
            <a:srgbClr val="EAF0FB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363931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fast Java desktop app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297680" y="3639312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0"/>
            <a:ext cx="2194560" cy="4114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JPass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754880"/>
            <a:ext cx="87782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– AACK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406640" y="530352"/>
            <a:ext cx="1463040" cy="320040"/>
          </a:xfrm>
          <a:prstGeom prst="rect">
            <a:avLst/>
          </a:prstGeom>
          <a:solidFill>
            <a:srgbClr val="243B6E"/>
          </a:solidFill>
          <a:ln w="12700">
            <a:solidFill>
              <a:srgbClr val="243B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0" y="5303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High Priority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6230133"/>
              </p:ext>
            </p:extLst>
          </p:nvPr>
        </p:nvGraphicFramePr>
        <p:xfrm>
          <a:off x="365760" y="1208024"/>
          <a:ext cx="8229600" cy="3104896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20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29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5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REQ-1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must allow users to create a master password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5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REQ-2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must deny vault access after 5 consecutive failed login attempts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5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REQ-3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 password must never be stored in plaintext under any circumstances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4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5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REQ-4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credentials must be encrypted using AES-256 before being written to disk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4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5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REQ-5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 must be able to add, update, and delete credential entries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4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5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REQ-6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must support credential search by username, account name, or URL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4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5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REQ-7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must allow secure copying of passwords to the clipboard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0"/>
            <a:ext cx="2194560" cy="4114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JPass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754880"/>
            <a:ext cx="87782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– AACK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BC7F88A-8BE3-4E34-AD0E-AD4197D81F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6107145"/>
              </p:ext>
            </p:extLst>
          </p:nvPr>
        </p:nvGraphicFramePr>
        <p:xfrm>
          <a:off x="451828" y="1171480"/>
          <a:ext cx="8326412" cy="2194560"/>
        </p:xfrm>
        <a:graphic>
          <a:graphicData uri="http://schemas.openxmlformats.org/drawingml/2006/table">
            <a:tbl>
              <a:tblPr>
                <a:tableStyleId>{FABFCF23-3B69-468F-B69F-88F6DE6A72F2}</a:tableStyleId>
              </a:tblPr>
              <a:tblGrid>
                <a:gridCol w="1144627">
                  <a:extLst>
                    <a:ext uri="{9D8B030D-6E8A-4147-A177-3AD203B41FA5}">
                      <a16:colId xmlns:a16="http://schemas.microsoft.com/office/drawing/2014/main" val="2850060284"/>
                    </a:ext>
                  </a:extLst>
                </a:gridCol>
                <a:gridCol w="1579625">
                  <a:extLst>
                    <a:ext uri="{9D8B030D-6E8A-4147-A177-3AD203B41FA5}">
                      <a16:colId xmlns:a16="http://schemas.microsoft.com/office/drawing/2014/main" val="746645858"/>
                    </a:ext>
                  </a:extLst>
                </a:gridCol>
                <a:gridCol w="5602160">
                  <a:extLst>
                    <a:ext uri="{9D8B030D-6E8A-4147-A177-3AD203B41FA5}">
                      <a16:colId xmlns:a16="http://schemas.microsoft.com/office/drawing/2014/main" val="27867607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rtl="0"/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</a:rPr>
                        <a:t>ID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50974" marR="28319" marT="42478" marB="42478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</a:rPr>
                        <a:t>Category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50974" marR="28319" marT="42478" marB="42478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</a:rPr>
                        <a:t>Description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50974" marR="50974" marT="42478" marB="42478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395638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rtl="0"/>
                      <a:r>
                        <a:rPr lang="en-US" sz="1200" b="1" dirty="0">
                          <a:ln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</a:ln>
                          <a:solidFill>
                            <a:srgbClr val="1F1F1F"/>
                          </a:solidFill>
                          <a:effectLst/>
                        </a:rPr>
                        <a:t>NF-01</a:t>
                      </a:r>
                      <a:endParaRPr lang="en-US" sz="1200" dirty="0">
                        <a:ln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ln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0974" marR="28319" marT="42478" marB="4247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</a:rPr>
                        <a:t>Performance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0974" marR="28319" marT="42478" marB="4247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</a:rPr>
                        <a:t>All vault operations must complete within 1 second for any vault size.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0974" marR="50974" marT="42478" marB="42478" anchor="ctr"/>
                </a:tc>
                <a:extLst>
                  <a:ext uri="{0D108BD9-81ED-4DB2-BD59-A6C34878D82A}">
                    <a16:rowId xmlns:a16="http://schemas.microsoft.com/office/drawing/2014/main" val="83914619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rtl="0"/>
                      <a:r>
                        <a:rPr lang="en-US" sz="1200" b="1">
                          <a:ln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</a:ln>
                          <a:solidFill>
                            <a:srgbClr val="1F1F1F"/>
                          </a:solidFill>
                          <a:effectLst/>
                        </a:rPr>
                        <a:t>NF-02</a:t>
                      </a:r>
                      <a:endParaRPr lang="en-US" sz="1200">
                        <a:ln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ln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0974" marR="28319" marT="42478" marB="42478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</a:rPr>
                        <a:t>Security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0974" marR="28319" marT="42478" marB="42478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</a:rPr>
                        <a:t>Protect data via AES-256; require master password; log/block repeated failed access.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0974" marR="50974" marT="42478" marB="42478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53369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rtl="0"/>
                      <a:r>
                        <a:rPr lang="en-US" sz="1200" b="1" dirty="0">
                          <a:ln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</a:ln>
                          <a:solidFill>
                            <a:srgbClr val="1F1F1F"/>
                          </a:solidFill>
                          <a:effectLst/>
                        </a:rPr>
                        <a:t>NF-03</a:t>
                      </a:r>
                      <a:endParaRPr lang="en-US" sz="1200" dirty="0">
                        <a:ln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ln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0974" marR="28319" marT="42478" marB="4247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</a:rPr>
                        <a:t>Reliability &amp; Safety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0974" marR="28319" marT="42478" marB="4247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</a:rPr>
                        <a:t>Prevent data loss from crashes; use atomic writes and backups to stop file corruption.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0974" marR="50974" marT="42478" marB="42478" anchor="ctr"/>
                </a:tc>
                <a:extLst>
                  <a:ext uri="{0D108BD9-81ED-4DB2-BD59-A6C34878D82A}">
                    <a16:rowId xmlns:a16="http://schemas.microsoft.com/office/drawing/2014/main" val="234428569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rtl="0"/>
                      <a:r>
                        <a:rPr lang="en-US" sz="1200" b="1" dirty="0">
                          <a:ln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</a:ln>
                          <a:solidFill>
                            <a:srgbClr val="1F1F1F"/>
                          </a:solidFill>
                          <a:effectLst/>
                        </a:rPr>
                        <a:t>NF-04</a:t>
                      </a:r>
                      <a:endParaRPr lang="en-US" sz="1200" dirty="0">
                        <a:ln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ln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0974" marR="28319" marT="42478" marB="42478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</a:rPr>
                        <a:t>Usability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0974" marR="28319" marT="42478" marB="42478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</a:rPr>
                        <a:t>GUI must be intuitive; core actions must require $\le$ 3 user interactions.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0974" marR="50974" marT="42478" marB="42478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56694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rtl="0"/>
                      <a:r>
                        <a:rPr lang="en-US" sz="1200" b="1" dirty="0">
                          <a:ln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</a:ln>
                          <a:solidFill>
                            <a:srgbClr val="1F1F1F"/>
                          </a:solidFill>
                          <a:effectLst/>
                        </a:rPr>
                        <a:t>NF-05</a:t>
                      </a:r>
                      <a:endParaRPr lang="en-US" sz="1200" dirty="0">
                        <a:ln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ln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0974" marR="28319" marT="42478" marB="4247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</a:rPr>
                        <a:t>Maintainability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0974" marR="28319" marT="42478" marB="4247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</a:rPr>
                        <a:t>Codebase must be modular, structured, and documented for easy patching.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0974" marR="50974" marT="42478" marB="42478" anchor="ctr"/>
                </a:tc>
                <a:extLst>
                  <a:ext uri="{0D108BD9-81ED-4DB2-BD59-A6C34878D82A}">
                    <a16:rowId xmlns:a16="http://schemas.microsoft.com/office/drawing/2014/main" val="13497053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134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BBC98B0E-68FA-4626-9819-736E1A89DF11}"/>
              </a:ext>
            </a:extLst>
          </p:cNvPr>
          <p:cNvSpPr/>
          <p:nvPr/>
        </p:nvSpPr>
        <p:spPr>
          <a:xfrm>
            <a:off x="0" y="396850"/>
            <a:ext cx="9124858" cy="43383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0"/>
            <a:ext cx="2194560" cy="4114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JPass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754880"/>
            <a:ext cx="87782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– AACK</a:t>
            </a:r>
            <a:endParaRPr lang="en-US" sz="11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FB56930-AA5F-4A78-A0ED-F7EC26579E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487" y="482803"/>
            <a:ext cx="7329371" cy="422501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766F839-AA17-4F57-9A5C-6FAFB57F6735}"/>
              </a:ext>
            </a:extLst>
          </p:cNvPr>
          <p:cNvSpPr txBox="1"/>
          <p:nvPr/>
        </p:nvSpPr>
        <p:spPr>
          <a:xfrm>
            <a:off x="91440" y="393683"/>
            <a:ext cx="52772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cs typeface="Arial" panose="020B0604020202020204" pitchFamily="34" charset="0"/>
              </a:rPr>
              <a:t>Use Case Diagram:</a:t>
            </a:r>
          </a:p>
        </p:txBody>
      </p:sp>
      <p:sp>
        <p:nvSpPr>
          <p:cNvPr id="26" name="Shape 5">
            <a:extLst>
              <a:ext uri="{FF2B5EF4-FFF2-40B4-BE49-F238E27FC236}">
                <a16:creationId xmlns:a16="http://schemas.microsoft.com/office/drawing/2014/main" id="{1464A17A-0BEF-4525-9DC9-7E7908D1C2EB}"/>
              </a:ext>
            </a:extLst>
          </p:cNvPr>
          <p:cNvSpPr/>
          <p:nvPr/>
        </p:nvSpPr>
        <p:spPr>
          <a:xfrm>
            <a:off x="211944" y="854857"/>
            <a:ext cx="1463040" cy="54864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07392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BBC98B0E-68FA-4626-9819-736E1A89DF11}"/>
              </a:ext>
            </a:extLst>
          </p:cNvPr>
          <p:cNvSpPr/>
          <p:nvPr/>
        </p:nvSpPr>
        <p:spPr>
          <a:xfrm>
            <a:off x="0" y="396850"/>
            <a:ext cx="9124858" cy="43383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F515C0-BF2F-4747-AD5C-8AF8DB87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2434" y="480060"/>
            <a:ext cx="7071235" cy="420624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0"/>
            <a:ext cx="2194560" cy="4114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JPass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754880"/>
            <a:ext cx="87782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– AACK</a:t>
            </a:r>
            <a:endParaRPr lang="en-US" sz="11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66F839-AA17-4F57-9A5C-6FAFB57F6735}"/>
              </a:ext>
            </a:extLst>
          </p:cNvPr>
          <p:cNvSpPr txBox="1"/>
          <p:nvPr/>
        </p:nvSpPr>
        <p:spPr>
          <a:xfrm>
            <a:off x="91440" y="393683"/>
            <a:ext cx="52772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cs typeface="Arial" panose="020B0604020202020204" pitchFamily="34" charset="0"/>
              </a:rPr>
              <a:t>Abuse Case Diagram:</a:t>
            </a:r>
          </a:p>
        </p:txBody>
      </p:sp>
      <p:sp>
        <p:nvSpPr>
          <p:cNvPr id="26" name="Shape 5">
            <a:extLst>
              <a:ext uri="{FF2B5EF4-FFF2-40B4-BE49-F238E27FC236}">
                <a16:creationId xmlns:a16="http://schemas.microsoft.com/office/drawing/2014/main" id="{1464A17A-0BEF-4525-9DC9-7E7908D1C2EB}"/>
              </a:ext>
            </a:extLst>
          </p:cNvPr>
          <p:cNvSpPr/>
          <p:nvPr/>
        </p:nvSpPr>
        <p:spPr>
          <a:xfrm>
            <a:off x="211944" y="854857"/>
            <a:ext cx="1463040" cy="54864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224154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BBC98B0E-68FA-4626-9819-736E1A89DF11}"/>
              </a:ext>
            </a:extLst>
          </p:cNvPr>
          <p:cNvSpPr/>
          <p:nvPr/>
        </p:nvSpPr>
        <p:spPr>
          <a:xfrm>
            <a:off x="0" y="396850"/>
            <a:ext cx="9124858" cy="43383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0"/>
            <a:ext cx="2194560" cy="4114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JPass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754880"/>
            <a:ext cx="87782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– AACK</a:t>
            </a:r>
            <a:endParaRPr lang="en-US" sz="11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66F839-AA17-4F57-9A5C-6FAFB57F6735}"/>
              </a:ext>
            </a:extLst>
          </p:cNvPr>
          <p:cNvSpPr txBox="1"/>
          <p:nvPr/>
        </p:nvSpPr>
        <p:spPr>
          <a:xfrm>
            <a:off x="91440" y="393683"/>
            <a:ext cx="52772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cs typeface="Arial" panose="020B0604020202020204" pitchFamily="34" charset="0"/>
              </a:rPr>
              <a:t>Class Diagram:</a:t>
            </a:r>
          </a:p>
        </p:txBody>
      </p:sp>
      <p:sp>
        <p:nvSpPr>
          <p:cNvPr id="26" name="Shape 5">
            <a:extLst>
              <a:ext uri="{FF2B5EF4-FFF2-40B4-BE49-F238E27FC236}">
                <a16:creationId xmlns:a16="http://schemas.microsoft.com/office/drawing/2014/main" id="{1464A17A-0BEF-4525-9DC9-7E7908D1C2EB}"/>
              </a:ext>
            </a:extLst>
          </p:cNvPr>
          <p:cNvSpPr/>
          <p:nvPr/>
        </p:nvSpPr>
        <p:spPr>
          <a:xfrm>
            <a:off x="211944" y="854857"/>
            <a:ext cx="1463040" cy="54864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A50C4B2-856C-43AB-AE3E-81EF1A926751}"/>
              </a:ext>
            </a:extLst>
          </p:cNvPr>
          <p:cNvGrpSpPr>
            <a:grpSpLocks/>
          </p:cNvGrpSpPr>
          <p:nvPr/>
        </p:nvGrpSpPr>
        <p:grpSpPr>
          <a:xfrm>
            <a:off x="2049780" y="431173"/>
            <a:ext cx="7075078" cy="4304014"/>
            <a:chOff x="0" y="0"/>
            <a:chExt cx="6557009" cy="7066280"/>
          </a:xfrm>
        </p:grpSpPr>
        <p:pic>
          <p:nvPicPr>
            <p:cNvPr id="11" name="Image 4">
              <a:extLst>
                <a:ext uri="{FF2B5EF4-FFF2-40B4-BE49-F238E27FC236}">
                  <a16:creationId xmlns:a16="http://schemas.microsoft.com/office/drawing/2014/main" id="{68E9AC6B-D211-49BA-BE84-5007AF22C43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25" y="9525"/>
              <a:ext cx="6537959" cy="7046976"/>
            </a:xfrm>
            <a:prstGeom prst="rect">
              <a:avLst/>
            </a:prstGeom>
          </p:spPr>
        </p:pic>
        <p:sp>
          <p:nvSpPr>
            <p:cNvPr id="12" name="Graphic 5">
              <a:extLst>
                <a:ext uri="{FF2B5EF4-FFF2-40B4-BE49-F238E27FC236}">
                  <a16:creationId xmlns:a16="http://schemas.microsoft.com/office/drawing/2014/main" id="{25712AD9-6B37-4426-B0EF-37C7EB132AB1}"/>
                </a:ext>
              </a:extLst>
            </p:cNvPr>
            <p:cNvSpPr/>
            <p:nvPr/>
          </p:nvSpPr>
          <p:spPr>
            <a:xfrm>
              <a:off x="0" y="0"/>
              <a:ext cx="6557009" cy="7066280"/>
            </a:xfrm>
            <a:custGeom>
              <a:avLst/>
              <a:gdLst/>
              <a:ahLst/>
              <a:cxnLst/>
              <a:rect l="l" t="t" r="r" b="b"/>
              <a:pathLst>
                <a:path w="6557009" h="7066280">
                  <a:moveTo>
                    <a:pt x="6552247" y="7066026"/>
                  </a:moveTo>
                  <a:lnTo>
                    <a:pt x="4762" y="7066026"/>
                  </a:lnTo>
                  <a:lnTo>
                    <a:pt x="3289" y="7065797"/>
                  </a:lnTo>
                  <a:lnTo>
                    <a:pt x="1968" y="7065111"/>
                  </a:lnTo>
                  <a:lnTo>
                    <a:pt x="914" y="7064057"/>
                  </a:lnTo>
                  <a:lnTo>
                    <a:pt x="228" y="7062736"/>
                  </a:lnTo>
                  <a:lnTo>
                    <a:pt x="0" y="7061263"/>
                  </a:lnTo>
                  <a:lnTo>
                    <a:pt x="0" y="4762"/>
                  </a:lnTo>
                  <a:lnTo>
                    <a:pt x="4762" y="0"/>
                  </a:lnTo>
                  <a:lnTo>
                    <a:pt x="6552247" y="0"/>
                  </a:lnTo>
                  <a:lnTo>
                    <a:pt x="6557009" y="4762"/>
                  </a:lnTo>
                  <a:lnTo>
                    <a:pt x="9525" y="4762"/>
                  </a:lnTo>
                  <a:lnTo>
                    <a:pt x="4762" y="9525"/>
                  </a:lnTo>
                  <a:lnTo>
                    <a:pt x="9525" y="9525"/>
                  </a:lnTo>
                  <a:lnTo>
                    <a:pt x="9525" y="7056500"/>
                  </a:lnTo>
                  <a:lnTo>
                    <a:pt x="4762" y="7056500"/>
                  </a:lnTo>
                  <a:lnTo>
                    <a:pt x="9525" y="7061263"/>
                  </a:lnTo>
                  <a:lnTo>
                    <a:pt x="6557009" y="7061263"/>
                  </a:lnTo>
                  <a:lnTo>
                    <a:pt x="6556781" y="7062736"/>
                  </a:lnTo>
                  <a:lnTo>
                    <a:pt x="6556095" y="7064057"/>
                  </a:lnTo>
                  <a:lnTo>
                    <a:pt x="6555041" y="7065111"/>
                  </a:lnTo>
                  <a:lnTo>
                    <a:pt x="6553720" y="7065797"/>
                  </a:lnTo>
                  <a:lnTo>
                    <a:pt x="6552247" y="7066026"/>
                  </a:lnTo>
                  <a:close/>
                </a:path>
                <a:path w="6557009" h="7066280">
                  <a:moveTo>
                    <a:pt x="9525" y="9525"/>
                  </a:moveTo>
                  <a:lnTo>
                    <a:pt x="4762" y="9525"/>
                  </a:lnTo>
                  <a:lnTo>
                    <a:pt x="9525" y="4762"/>
                  </a:lnTo>
                  <a:lnTo>
                    <a:pt x="9525" y="9525"/>
                  </a:lnTo>
                  <a:close/>
                </a:path>
                <a:path w="6557009" h="7066280">
                  <a:moveTo>
                    <a:pt x="6547484" y="9525"/>
                  </a:moveTo>
                  <a:lnTo>
                    <a:pt x="9525" y="9525"/>
                  </a:lnTo>
                  <a:lnTo>
                    <a:pt x="9525" y="4762"/>
                  </a:lnTo>
                  <a:lnTo>
                    <a:pt x="6547484" y="4762"/>
                  </a:lnTo>
                  <a:lnTo>
                    <a:pt x="6547484" y="9525"/>
                  </a:lnTo>
                  <a:close/>
                </a:path>
                <a:path w="6557009" h="7066280">
                  <a:moveTo>
                    <a:pt x="6547484" y="7061263"/>
                  </a:moveTo>
                  <a:lnTo>
                    <a:pt x="6547484" y="4762"/>
                  </a:lnTo>
                  <a:lnTo>
                    <a:pt x="6552247" y="9525"/>
                  </a:lnTo>
                  <a:lnTo>
                    <a:pt x="6557009" y="9525"/>
                  </a:lnTo>
                  <a:lnTo>
                    <a:pt x="6557009" y="7056500"/>
                  </a:lnTo>
                  <a:lnTo>
                    <a:pt x="6552247" y="7056500"/>
                  </a:lnTo>
                  <a:lnTo>
                    <a:pt x="6547484" y="7061263"/>
                  </a:lnTo>
                  <a:close/>
                </a:path>
                <a:path w="6557009" h="7066280">
                  <a:moveTo>
                    <a:pt x="6557009" y="9525"/>
                  </a:moveTo>
                  <a:lnTo>
                    <a:pt x="6552247" y="9525"/>
                  </a:lnTo>
                  <a:lnTo>
                    <a:pt x="6547484" y="4762"/>
                  </a:lnTo>
                  <a:lnTo>
                    <a:pt x="6557009" y="4762"/>
                  </a:lnTo>
                  <a:lnTo>
                    <a:pt x="6557009" y="9525"/>
                  </a:lnTo>
                  <a:close/>
                </a:path>
                <a:path w="6557009" h="7066280">
                  <a:moveTo>
                    <a:pt x="9525" y="7061263"/>
                  </a:moveTo>
                  <a:lnTo>
                    <a:pt x="4762" y="7056500"/>
                  </a:lnTo>
                  <a:lnTo>
                    <a:pt x="9525" y="7056500"/>
                  </a:lnTo>
                  <a:lnTo>
                    <a:pt x="9525" y="7061263"/>
                  </a:lnTo>
                  <a:close/>
                </a:path>
                <a:path w="6557009" h="7066280">
                  <a:moveTo>
                    <a:pt x="6547484" y="7061263"/>
                  </a:moveTo>
                  <a:lnTo>
                    <a:pt x="9525" y="7061263"/>
                  </a:lnTo>
                  <a:lnTo>
                    <a:pt x="9525" y="7056500"/>
                  </a:lnTo>
                  <a:lnTo>
                    <a:pt x="6547484" y="7056500"/>
                  </a:lnTo>
                  <a:lnTo>
                    <a:pt x="6547484" y="7061263"/>
                  </a:lnTo>
                  <a:close/>
                </a:path>
                <a:path w="6557009" h="7066280">
                  <a:moveTo>
                    <a:pt x="6557009" y="7061263"/>
                  </a:moveTo>
                  <a:lnTo>
                    <a:pt x="6547484" y="7061263"/>
                  </a:lnTo>
                  <a:lnTo>
                    <a:pt x="6552247" y="7056500"/>
                  </a:lnTo>
                  <a:lnTo>
                    <a:pt x="6557009" y="7056500"/>
                  </a:lnTo>
                  <a:lnTo>
                    <a:pt x="6557009" y="70612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140848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BBC98B0E-68FA-4626-9819-736E1A89DF11}"/>
              </a:ext>
            </a:extLst>
          </p:cNvPr>
          <p:cNvSpPr/>
          <p:nvPr/>
        </p:nvSpPr>
        <p:spPr>
          <a:xfrm>
            <a:off x="19142" y="373990"/>
            <a:ext cx="9124858" cy="43383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0"/>
            <a:ext cx="2194560" cy="4114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JPass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754880"/>
            <a:ext cx="87782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– AACK</a:t>
            </a:r>
            <a:endParaRPr lang="en-US" sz="11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66F839-AA17-4F57-9A5C-6FAFB57F6735}"/>
              </a:ext>
            </a:extLst>
          </p:cNvPr>
          <p:cNvSpPr txBox="1"/>
          <p:nvPr/>
        </p:nvSpPr>
        <p:spPr>
          <a:xfrm>
            <a:off x="91440" y="393683"/>
            <a:ext cx="52772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cs typeface="Arial" panose="020B0604020202020204" pitchFamily="34" charset="0"/>
              </a:rPr>
              <a:t>Activity </a:t>
            </a:r>
          </a:p>
          <a:p>
            <a:r>
              <a:rPr lang="en-US" sz="2400" b="1" dirty="0">
                <a:solidFill>
                  <a:srgbClr val="002060"/>
                </a:solidFill>
                <a:cs typeface="Arial" panose="020B0604020202020204" pitchFamily="34" charset="0"/>
              </a:rPr>
              <a:t>Diagram:</a:t>
            </a:r>
          </a:p>
        </p:txBody>
      </p:sp>
      <p:sp>
        <p:nvSpPr>
          <p:cNvPr id="26" name="Shape 5">
            <a:extLst>
              <a:ext uri="{FF2B5EF4-FFF2-40B4-BE49-F238E27FC236}">
                <a16:creationId xmlns:a16="http://schemas.microsoft.com/office/drawing/2014/main" id="{1464A17A-0BEF-4525-9DC9-7E7908D1C2EB}"/>
              </a:ext>
            </a:extLst>
          </p:cNvPr>
          <p:cNvSpPr/>
          <p:nvPr/>
        </p:nvSpPr>
        <p:spPr>
          <a:xfrm>
            <a:off x="185009" y="1171486"/>
            <a:ext cx="1463040" cy="54864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0DF1301C-F61E-4AAE-859E-252F45F0AFA8}"/>
              </a:ext>
            </a:extLst>
          </p:cNvPr>
          <p:cNvSpPr txBox="1">
            <a:spLocks/>
          </p:cNvSpPr>
          <p:nvPr/>
        </p:nvSpPr>
        <p:spPr>
          <a:xfrm>
            <a:off x="10872911" y="6190702"/>
            <a:ext cx="3497579" cy="1240254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DE2A2BF-DC91-490A-B15E-28D1E7357C08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03C078C-B846-451C-9E18-53A6A67DE6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07144" y="454033"/>
            <a:ext cx="3399494" cy="244133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ECC59A7-ABB5-4EBB-A55B-4541744C83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08330" y="2854420"/>
            <a:ext cx="2939503" cy="184425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A80F080-5844-46CB-8291-8732651FB14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498005" y="431173"/>
            <a:ext cx="3497579" cy="167244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9780210-3F9C-4254-BFBE-913B1D0E7FF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478863" y="2018936"/>
            <a:ext cx="3497579" cy="149296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99DDA54-C804-44AD-805E-54B9532A785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457558" y="3524654"/>
            <a:ext cx="3497579" cy="1052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601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BBC98B0E-68FA-4626-9819-736E1A89DF11}"/>
              </a:ext>
            </a:extLst>
          </p:cNvPr>
          <p:cNvSpPr/>
          <p:nvPr/>
        </p:nvSpPr>
        <p:spPr>
          <a:xfrm>
            <a:off x="0" y="396850"/>
            <a:ext cx="9124858" cy="43383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0"/>
            <a:ext cx="2194560" cy="4114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JPass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754880"/>
            <a:ext cx="87782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– AACK</a:t>
            </a:r>
            <a:endParaRPr lang="en-US" sz="11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66F839-AA17-4F57-9A5C-6FAFB57F6735}"/>
              </a:ext>
            </a:extLst>
          </p:cNvPr>
          <p:cNvSpPr txBox="1"/>
          <p:nvPr/>
        </p:nvSpPr>
        <p:spPr>
          <a:xfrm>
            <a:off x="91440" y="393683"/>
            <a:ext cx="52772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cs typeface="Arial" panose="020B0604020202020204" pitchFamily="34" charset="0"/>
              </a:rPr>
              <a:t>Architecture Diagram:</a:t>
            </a:r>
          </a:p>
        </p:txBody>
      </p:sp>
      <p:sp>
        <p:nvSpPr>
          <p:cNvPr id="26" name="Shape 5">
            <a:extLst>
              <a:ext uri="{FF2B5EF4-FFF2-40B4-BE49-F238E27FC236}">
                <a16:creationId xmlns:a16="http://schemas.microsoft.com/office/drawing/2014/main" id="{1464A17A-0BEF-4525-9DC9-7E7908D1C2EB}"/>
              </a:ext>
            </a:extLst>
          </p:cNvPr>
          <p:cNvSpPr/>
          <p:nvPr/>
        </p:nvSpPr>
        <p:spPr>
          <a:xfrm>
            <a:off x="211944" y="854857"/>
            <a:ext cx="1463040" cy="54864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pic>
        <p:nvPicPr>
          <p:cNvPr id="13" name="Image 3">
            <a:extLst>
              <a:ext uri="{FF2B5EF4-FFF2-40B4-BE49-F238E27FC236}">
                <a16:creationId xmlns:a16="http://schemas.microsoft.com/office/drawing/2014/main" id="{624D46F8-8417-4E6A-ACB0-1FFC0D08174A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t="7048" b="1867"/>
          <a:stretch>
            <a:fillRect/>
          </a:stretch>
        </p:blipFill>
        <p:spPr>
          <a:xfrm>
            <a:off x="3645727" y="494940"/>
            <a:ext cx="4197793" cy="4178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2861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0"/>
            <a:ext cx="2194560" cy="4114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JPass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754880"/>
            <a:ext cx="87782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– AACK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Test Coverage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0" y="5486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01–05 · High Priority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969264"/>
            <a:ext cx="8412480" cy="36576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02412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10241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/ Class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43400" y="10241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Tests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863840" y="10241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1316736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316736"/>
            <a:ext cx="54864" cy="59436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4632" y="1463040"/>
            <a:ext cx="292608" cy="292608"/>
          </a:xfrm>
          <a:prstGeom prst="rect">
            <a:avLst/>
          </a:prstGeom>
          <a:solidFill>
            <a:srgbClr val="EAF0FB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1248" y="1353312"/>
            <a:ext cx="3401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entaur" panose="02030504050205020304" pitchFamily="18" charset="0"/>
                <a:ea typeface="Courier New" pitchFamily="34" charset="-122"/>
                <a:cs typeface="Courier New" pitchFamily="34" charset="-120"/>
              </a:rPr>
              <a:t>shouldEncryptAndDecryptASmallMessage</a:t>
            </a:r>
            <a:endParaRPr lang="en-US" sz="1300" dirty="0">
              <a:latin typeface="Centaur" panose="020305040502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41248" y="1664208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CbcTest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43400" y="1389888"/>
            <a:ext cx="3401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CBC encrypt/decrypt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744968" y="1481328"/>
            <a:ext cx="960120" cy="256032"/>
          </a:xfrm>
          <a:prstGeom prst="rect">
            <a:avLst/>
          </a:prstGeom>
          <a:solidFill>
            <a:srgbClr val="243B6E"/>
          </a:solidFill>
          <a:ln w="12700">
            <a:solidFill>
              <a:srgbClr val="243B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44968" y="14813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65760" y="1975104"/>
            <a:ext cx="8412480" cy="594360"/>
          </a:xfrm>
          <a:prstGeom prst="rect">
            <a:avLst/>
          </a:prstGeom>
          <a:solidFill>
            <a:srgbClr val="EAF0FB"/>
          </a:solidFill>
          <a:ln w="12700">
            <a:solidFill>
              <a:srgbClr val="D0DA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1975104"/>
            <a:ext cx="54864" cy="59436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" y="2121408"/>
            <a:ext cx="292608" cy="292608"/>
          </a:xfrm>
          <a:prstGeom prst="rect">
            <a:avLst/>
          </a:prstGeom>
          <a:solidFill>
            <a:srgbClr val="EAF0FB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" y="2121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41248" y="2011680"/>
            <a:ext cx="3401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entaur" panose="02030504050205020304" pitchFamily="18" charset="0"/>
                <a:ea typeface="Courier New" pitchFamily="34" charset="-122"/>
                <a:cs typeface="Courier New" pitchFamily="34" charset="-120"/>
              </a:rPr>
              <a:t>shouldWorkWithReferenceData</a:t>
            </a:r>
            <a:endParaRPr lang="en-US" sz="1300" dirty="0">
              <a:latin typeface="Centaur" panose="020305040502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41248" y="2322576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CbcTest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343400" y="2048256"/>
            <a:ext cx="3401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CBC output against real  reference 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44968" y="2139696"/>
            <a:ext cx="960120" cy="256032"/>
          </a:xfrm>
          <a:prstGeom prst="rect">
            <a:avLst/>
          </a:prstGeom>
          <a:solidFill>
            <a:srgbClr val="243B6E"/>
          </a:solidFill>
          <a:ln w="12700">
            <a:solidFill>
              <a:srgbClr val="243B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44968" y="21396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65760" y="2633472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2633472"/>
            <a:ext cx="54864" cy="59436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4632" y="2779776"/>
            <a:ext cx="292608" cy="292608"/>
          </a:xfrm>
          <a:prstGeom prst="rect">
            <a:avLst/>
          </a:prstGeom>
          <a:solidFill>
            <a:srgbClr val="EAF0FB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" y="2779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41248" y="2670048"/>
            <a:ext cx="3401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entaur" panose="02030504050205020304" pitchFamily="18" charset="0"/>
                <a:ea typeface="Courier New" pitchFamily="34" charset="-122"/>
                <a:cs typeface="Courier New" pitchFamily="34" charset="-120"/>
              </a:rPr>
              <a:t>shouldEntryptAndDecryptATestMessage</a:t>
            </a:r>
            <a:endParaRPr lang="en-US" sz="1300" dirty="0">
              <a:latin typeface="Centaur" panose="020305040502050203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841248" y="2980944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Aes256Test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343400" y="2706624"/>
            <a:ext cx="3401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correctness via FIPS 197 official test vectors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744968" y="2798064"/>
            <a:ext cx="960120" cy="256032"/>
          </a:xfrm>
          <a:prstGeom prst="rect">
            <a:avLst/>
          </a:prstGeom>
          <a:solidFill>
            <a:srgbClr val="243B6E"/>
          </a:solidFill>
          <a:ln w="12700">
            <a:solidFill>
              <a:srgbClr val="243B6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44968" y="279806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365760" y="3291840"/>
            <a:ext cx="8412480" cy="594360"/>
          </a:xfrm>
          <a:prstGeom prst="rect">
            <a:avLst/>
          </a:prstGeom>
          <a:solidFill>
            <a:srgbClr val="EAF0FB"/>
          </a:solidFill>
          <a:ln w="12700">
            <a:solidFill>
              <a:srgbClr val="D0DAE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5760" y="3291840"/>
            <a:ext cx="54864" cy="59436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4632" y="3438144"/>
            <a:ext cx="292608" cy="292608"/>
          </a:xfrm>
          <a:prstGeom prst="rect">
            <a:avLst/>
          </a:prstGeom>
          <a:solidFill>
            <a:srgbClr val="EAF0FB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" y="3438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41248" y="3351276"/>
            <a:ext cx="3401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entaur" panose="02030504050205020304" pitchFamily="18" charset="0"/>
                <a:ea typeface="Courier New" pitchFamily="34" charset="-122"/>
                <a:cs typeface="Courier New" pitchFamily="34" charset="-120"/>
              </a:rPr>
              <a:t>shouldWriteAndReadEncryptedFile</a:t>
            </a:r>
            <a:endParaRPr lang="en-US" sz="1300" dirty="0">
              <a:latin typeface="Centaur" panose="02030504050205020304" pitchFamily="18" charset="0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entaur" panose="02030504050205020304" pitchFamily="18" charset="0"/>
                <a:ea typeface="Courier New" pitchFamily="34" charset="-122"/>
                <a:cs typeface="Courier New" pitchFamily="34" charset="-120"/>
              </a:rPr>
              <a:t>WithCorrectPassword</a:t>
            </a:r>
            <a:endParaRPr lang="en-US" sz="1300" dirty="0">
              <a:latin typeface="Centaur" panose="02030504050205020304" pitchFamily="18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859536" y="3671316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EntriesRepositoryTest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343400" y="3364992"/>
            <a:ext cx="3401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vault read/write with correct key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7744968" y="3456432"/>
            <a:ext cx="96012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44968" y="345643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365760" y="3963924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65760" y="3950208"/>
            <a:ext cx="54864" cy="59436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4632" y="4096512"/>
            <a:ext cx="292608" cy="292608"/>
          </a:xfrm>
          <a:prstGeom prst="rect">
            <a:avLst/>
          </a:prstGeom>
          <a:solidFill>
            <a:srgbClr val="EAF0FB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4632" y="40965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868680" y="4037076"/>
            <a:ext cx="3401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entaur" panose="02030504050205020304" pitchFamily="18" charset="0"/>
                <a:ea typeface="Courier New" pitchFamily="34" charset="-122"/>
                <a:cs typeface="Courier New" pitchFamily="34" charset="-120"/>
              </a:rPr>
              <a:t>shouldThrowExceptionWhenReading</a:t>
            </a:r>
            <a:endParaRPr lang="en-US" sz="1300" dirty="0">
              <a:latin typeface="Centaur" panose="02030504050205020304" pitchFamily="18" charset="0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entaur" panose="02030504050205020304" pitchFamily="18" charset="0"/>
                <a:ea typeface="Courier New" pitchFamily="34" charset="-122"/>
                <a:cs typeface="Courier New" pitchFamily="34" charset="-120"/>
              </a:rPr>
              <a:t>DocumentWithIncorrectKey</a:t>
            </a:r>
            <a:endParaRPr lang="en-US" sz="1300" dirty="0">
              <a:latin typeface="Centaur" panose="02030504050205020304" pitchFamily="18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850392" y="4370832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EntriesRepositoryTest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343400" y="4023360"/>
            <a:ext cx="3401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password blocked — core security requirement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7744968" y="4114800"/>
            <a:ext cx="96012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744968" y="411480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0"/>
            <a:ext cx="2194560" cy="4114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JPass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754880"/>
            <a:ext cx="87782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– AACK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Test Coverage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0" y="5486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06–10 · High Priority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969264"/>
            <a:ext cx="8412480" cy="36576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02412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10241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/ Class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43400" y="10241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Tests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863840" y="10241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1316736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316736"/>
            <a:ext cx="54864" cy="59436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4632" y="1463040"/>
            <a:ext cx="292608" cy="292608"/>
          </a:xfrm>
          <a:prstGeom prst="rect">
            <a:avLst/>
          </a:prstGeom>
          <a:solidFill>
            <a:srgbClr val="EAF0FB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1248" y="1353312"/>
            <a:ext cx="3328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entaur" panose="02030504050205020304" pitchFamily="18" charset="0"/>
                <a:ea typeface="Courier New" pitchFamily="34" charset="-122"/>
                <a:cs typeface="Courier New" pitchFamily="34" charset="-120"/>
              </a:rPr>
              <a:t>shouldCalculatePBKDF2KeyWithDefault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entaur" panose="02030504050205020304" pitchFamily="18" charset="0"/>
                <a:ea typeface="Courier New" pitchFamily="34" charset="-122"/>
                <a:cs typeface="Courier New" pitchFamily="34" charset="-120"/>
              </a:rPr>
              <a:t>Iterations</a:t>
            </a:r>
            <a:endParaRPr lang="en-US" sz="1300" dirty="0">
              <a:latin typeface="Centaur" panose="020305040502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41248" y="1664208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CryptUtilsTest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43400" y="1389888"/>
            <a:ext cx="3401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derivation correctness , everything depends on this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744968" y="1433779"/>
            <a:ext cx="960120" cy="34747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44968" y="1415491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Derivation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1975104"/>
            <a:ext cx="8412480" cy="594360"/>
          </a:xfrm>
          <a:prstGeom prst="rect">
            <a:avLst/>
          </a:prstGeom>
          <a:solidFill>
            <a:srgbClr val="EAF0FB"/>
          </a:solidFill>
          <a:ln w="12700">
            <a:solidFill>
              <a:srgbClr val="D0DA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1975104"/>
            <a:ext cx="54864" cy="59436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" y="2121408"/>
            <a:ext cx="292608" cy="292608"/>
          </a:xfrm>
          <a:prstGeom prst="rect">
            <a:avLst/>
          </a:prstGeom>
          <a:solidFill>
            <a:srgbClr val="EAF0FB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" y="2121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41248" y="2011680"/>
            <a:ext cx="3401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entaur" panose="02030504050205020304" pitchFamily="18" charset="0"/>
                <a:ea typeface="Courier New" pitchFamily="34" charset="-122"/>
                <a:cs typeface="Courier New" pitchFamily="34" charset="-120"/>
              </a:rPr>
              <a:t>differentPasswordsShouldProduce</a:t>
            </a:r>
            <a:endParaRPr lang="en-US" sz="1300" dirty="0">
              <a:latin typeface="Centaur" panose="02030504050205020304" pitchFamily="18" charset="0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entaur" panose="02030504050205020304" pitchFamily="18" charset="0"/>
                <a:ea typeface="Courier New" pitchFamily="34" charset="-122"/>
                <a:cs typeface="Courier New" pitchFamily="34" charset="-120"/>
              </a:rPr>
              <a:t>DifferentKeys</a:t>
            </a:r>
            <a:endParaRPr lang="en-US" sz="1300" dirty="0">
              <a:latin typeface="Centaur" panose="020305040502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41248" y="2322576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JPassStreamTest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343400" y="2048256"/>
            <a:ext cx="3401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passwords → different keys — basic crypto rule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44968" y="2103120"/>
            <a:ext cx="960120" cy="36576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67828" y="215798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Derivation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65760" y="2633472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2633472"/>
            <a:ext cx="54864" cy="59436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4632" y="2779776"/>
            <a:ext cx="292608" cy="292608"/>
          </a:xfrm>
          <a:prstGeom prst="rect">
            <a:avLst/>
          </a:prstGeom>
          <a:solidFill>
            <a:srgbClr val="EAF0FB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" y="2779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41248" y="2670048"/>
            <a:ext cx="3401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entaur" panose="02030504050205020304" pitchFamily="18" charset="0"/>
                <a:ea typeface="Courier New" pitchFamily="34" charset="-122"/>
                <a:cs typeface="Courier New" pitchFamily="34" charset="-120"/>
              </a:rPr>
              <a:t>generatedKeyShouldBe32Bytes</a:t>
            </a:r>
            <a:endParaRPr lang="en-US" sz="1300" dirty="0">
              <a:latin typeface="Centaur" panose="020305040502050203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841248" y="2980944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JPassStreamTest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343400" y="2706624"/>
            <a:ext cx="3401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key size enforced — 256-bit = 32 bytes exactly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744968" y="2730398"/>
            <a:ext cx="960120" cy="34747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31252" y="277611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Derivation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65760" y="3291840"/>
            <a:ext cx="8412480" cy="594360"/>
          </a:xfrm>
          <a:prstGeom prst="rect">
            <a:avLst/>
          </a:prstGeom>
          <a:solidFill>
            <a:srgbClr val="EAF0FB"/>
          </a:solidFill>
          <a:ln w="12700">
            <a:solidFill>
              <a:srgbClr val="D0DAE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5760" y="3291840"/>
            <a:ext cx="54864" cy="59436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4632" y="3438144"/>
            <a:ext cx="292608" cy="292608"/>
          </a:xfrm>
          <a:prstGeom prst="rect">
            <a:avLst/>
          </a:prstGeom>
          <a:solidFill>
            <a:srgbClr val="EAF0FB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" y="3438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41248" y="3328416"/>
            <a:ext cx="3401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entaur" panose="02030504050205020304" pitchFamily="18" charset="0"/>
                <a:ea typeface="Courier New" pitchFamily="34" charset="-122"/>
                <a:cs typeface="Courier New" pitchFamily="34" charset="-120"/>
              </a:rPr>
              <a:t>testRoundTrip</a:t>
            </a:r>
            <a:endParaRPr lang="en-US" sz="1300" dirty="0">
              <a:latin typeface="Centaur" panose="02030504050205020304" pitchFamily="18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841248" y="3639312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XmlConverterTest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343400" y="3364992"/>
            <a:ext cx="3401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Write→read round-trip preserves all entry data — integrity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7731252" y="3431743"/>
            <a:ext cx="960120" cy="25603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31252" y="3431743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365760" y="3950208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65760" y="3950208"/>
            <a:ext cx="54864" cy="59436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4632" y="4096512"/>
            <a:ext cx="292608" cy="292608"/>
          </a:xfrm>
          <a:prstGeom prst="rect">
            <a:avLst/>
          </a:prstGeom>
          <a:solidFill>
            <a:srgbClr val="EAF0FB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4632" y="40965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841248" y="3986784"/>
            <a:ext cx="3401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entaur" panose="02030504050205020304" pitchFamily="18" charset="0"/>
                <a:ea typeface="Courier New" pitchFamily="34" charset="-122"/>
                <a:cs typeface="Courier New" pitchFamily="34" charset="-120"/>
              </a:rPr>
              <a:t>clearTest</a:t>
            </a:r>
            <a:endParaRPr lang="en-US" sz="1300" dirty="0">
              <a:latin typeface="Centaur" panose="02030504050205020304" pitchFamily="18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841248" y="4297680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DataModelTest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343400" y="4023360"/>
            <a:ext cx="3401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null after vault clear — memory safety enforced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7731252" y="4090111"/>
            <a:ext cx="960120" cy="25603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731252" y="4090111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0"/>
            <a:ext cx="2194560" cy="4114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JPass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754880"/>
            <a:ext cx="87782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– AACK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548640"/>
            <a:ext cx="1463040" cy="1463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1031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Secure with JPass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457200" y="2834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Master Password · AES-256 Security · Offline &amp; Private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560320" y="3383280"/>
            <a:ext cx="4023360" cy="457200"/>
          </a:xfrm>
          <a:prstGeom prst="rect">
            <a:avLst/>
          </a:prstGeom>
          <a:solidFill>
            <a:srgbClr val="243B6E"/>
          </a:solidFill>
          <a:ln w="12700">
            <a:solidFill>
              <a:srgbClr val="243B6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560320" y="33832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· Secure · Reliable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732</Words>
  <Application>Microsoft Office PowerPoint</Application>
  <PresentationFormat>On-screen Show (16:9)</PresentationFormat>
  <Paragraphs>217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Centaur</vt:lpstr>
      <vt:lpstr>Google Sans Text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Haleema Abid</cp:lastModifiedBy>
  <cp:revision>28</cp:revision>
  <dcterms:created xsi:type="dcterms:W3CDTF">2026-05-17T15:43:24Z</dcterms:created>
  <dcterms:modified xsi:type="dcterms:W3CDTF">2026-05-20T17:42:18Z</dcterms:modified>
</cp:coreProperties>
</file>